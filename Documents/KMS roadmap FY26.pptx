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06"/>
    <p:restoredTop sz="94586"/>
  </p:normalViewPr>
  <p:slideViewPr>
    <p:cSldViewPr snapToGrid="0">
      <p:cViewPr varScale="1">
        <p:scale>
          <a:sx n="164" d="100"/>
          <a:sy n="164" d="100"/>
        </p:scale>
        <p:origin x="11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DAE2E-CC52-EB4B-8C08-544E30EC062D}" type="datetimeFigureOut">
              <a:rPr lang="en-US" smtClean="0"/>
              <a:t>9/5/25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19B98-CB26-074D-A39E-F8B3BEBD1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78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KMS Roadmap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19B98-CB26-074D-A39E-F8B3BEBD17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777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19B98-CB26-074D-A39E-F8B3BEBD17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14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19B98-CB26-074D-A39E-F8B3BEBD17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240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19B98-CB26-074D-A39E-F8B3BEBD17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32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19B98-CB26-074D-A39E-F8B3BEBD17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25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EB16D-31A2-8604-BE53-7148CE717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E7071-BDD5-E94E-69D1-CDE0622E6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22076-7F5B-1EE9-C543-AAF8BE8CD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79DB-54BB-8349-AED4-74B902223EF5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AC4C8-3527-1836-031C-CFDF77979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9E69F-B78F-8253-13C6-E19B17DF4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700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8AE8B-CC39-25D1-CAAC-C5FCC150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F8C1E-7443-F52D-51F1-9E25E1307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BA3DF-D09E-6F9C-8A24-EBAAF209C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79DB-54BB-8349-AED4-74B902223EF5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E590-AD17-4135-F0B9-BF5F5D934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4C88A-EAD1-A79F-397E-E40A3C5E8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09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86CCE-4ED0-7021-DF57-973B90D0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6BB99-DFE8-2136-4976-47843063E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7218C-85D4-1F1A-2712-747A77690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79DB-54BB-8349-AED4-74B902223EF5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ED500-1C32-3E6D-3ACC-806574B05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CA0A-11E4-7DE1-67A7-8ABAA4FB4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97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0675C-4535-61E0-BC9C-33FC56CBE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A9AB9-E35F-0CB6-F57F-854084359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01897-BED3-20EF-2FB9-D33915DEE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1DBC7-D38B-58B6-6C82-24B899C64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79DB-54BB-8349-AED4-74B902223EF5}" type="datetimeFigureOut">
              <a:rPr lang="en-US" smtClean="0"/>
              <a:t>9/5/25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B4294-C93E-AF15-4274-5BA419E9B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44423B-5FFC-65B6-71E4-9CA43C08C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52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200FF-A276-1BD9-109F-ED0C476C2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3881D-117B-5088-5404-BE32B95D6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F2BB2C-6A46-1602-4D3C-1AB181CAE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FA535E-CDD9-3594-CAB0-6F1408136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748E36-D112-7BF9-B037-884B3E86D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B5336A-B571-A617-A704-2A314C6AB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79DB-54BB-8349-AED4-74B902223EF5}" type="datetimeFigureOut">
              <a:rPr lang="en-US" smtClean="0"/>
              <a:t>9/5/25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88353B-1E71-92A8-54AA-387CF6B5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CADEC4-4800-CD6C-38BF-24483FF0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08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89BBF-CA5D-681D-2454-9FE7441F8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30F42-039C-4083-856A-CFE90E4C1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79DB-54BB-8349-AED4-74B902223EF5}" type="datetimeFigureOut">
              <a:rPr lang="en-US" smtClean="0"/>
              <a:t>9/5/25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EC042-2B52-39CC-CCDB-EA9200943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388D2-2803-4E68-C99E-36BEDD656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806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9A5A38-8985-405F-AE94-91D6519C0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79DB-54BB-8349-AED4-74B902223EF5}" type="datetimeFigureOut">
              <a:rPr lang="en-US" smtClean="0"/>
              <a:t>9/5/25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2DEE3A-8D86-DBFC-EBA5-EF3760B40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BE790-2A1F-EC55-FA92-E0E1295C9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817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BCD0F-8AD8-E36A-EA18-C6F99A3C6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B2928-44D5-7A10-331A-6BE547D1B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229B9-E265-323A-E5E7-81CAFD0CD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F5DB2-FF69-2C6A-0AC5-14635A60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79DB-54BB-8349-AED4-74B902223EF5}" type="datetimeFigureOut">
              <a:rPr lang="en-US" smtClean="0"/>
              <a:t>9/5/25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B72A5-30A6-97D8-4AE5-A522C4358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2E7CC-6885-6E2F-0FCD-2B2535F1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014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4A056-66F2-7F2A-BAF8-756FF90A7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4C11F0-750B-CD1F-2AD2-1FA3A19D6F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487B4-5CE8-C512-41FC-AEF96C386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B9423-813F-4B60-6DB7-D0452546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79DB-54BB-8349-AED4-74B902223EF5}" type="datetimeFigureOut">
              <a:rPr lang="en-US" smtClean="0"/>
              <a:t>9/5/25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084D9-6C6A-9B8F-4AB9-D7F6DEF3E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B7321-E45C-7EFE-9CB4-E00C0EC6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969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E5B38-02C5-1F1F-D9F5-2014890AD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51D46F-8FD4-156C-450D-5AD169BBE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358E-B522-9D8F-8C11-9AAD776A4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79DB-54BB-8349-AED4-74B902223EF5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538A4-2DD9-198C-5359-160EB7838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7A01A-9D18-4379-090E-491E48CFD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91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61E3C-5DDB-0F44-AC69-C75F097867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63DEA-6DE4-C06D-DE21-15AF1021A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7FB25-7533-DE83-A113-A18574311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379DB-54BB-8349-AED4-74B902223EF5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5417D-E29F-86D6-C1F6-95AF4E6C6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772DB-FE92-4BED-773E-8283539D9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15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448C01-60A7-2AD6-17C5-5265096EA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A3FB7-3B61-0321-D978-F3278EAD9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83125-F89A-6B44-E7D3-25C4CEC22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B379DB-54BB-8349-AED4-74B902223EF5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64FBE-3C4B-A3A4-842C-032E690F01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93733-F120-FA73-68EA-08DC83091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6CF325-51EE-7A46-A0B2-86B6733757E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1BFB7D-7683-611A-79B0-31D9948F231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5430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 – Oracle Internal</a:t>
            </a:r>
          </a:p>
        </p:txBody>
      </p:sp>
    </p:spTree>
    <p:extLst>
      <p:ext uri="{BB962C8B-B14F-4D97-AF65-F5344CB8AC3E}">
        <p14:creationId xmlns:p14="http://schemas.microsoft.com/office/powerpoint/2010/main" val="1815130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D6ED-AF7A-E917-B584-A4182BC401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KMS and Secrets Customer Facing Feature Roadmap- FY26</a:t>
            </a:r>
          </a:p>
        </p:txBody>
      </p:sp>
    </p:spTree>
    <p:extLst>
      <p:ext uri="{BB962C8B-B14F-4D97-AF65-F5344CB8AC3E}">
        <p14:creationId xmlns:p14="http://schemas.microsoft.com/office/powerpoint/2010/main" val="2166185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EF50E5-DF0B-6B00-B300-77321038F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332151"/>
              </p:ext>
            </p:extLst>
          </p:nvPr>
        </p:nvGraphicFramePr>
        <p:xfrm>
          <a:off x="1253168" y="1836402"/>
          <a:ext cx="8326837" cy="2264740"/>
        </p:xfrm>
        <a:graphic>
          <a:graphicData uri="http://schemas.openxmlformats.org/drawingml/2006/table">
            <a:tbl>
              <a:tblPr/>
              <a:tblGrid>
                <a:gridCol w="4463346">
                  <a:extLst>
                    <a:ext uri="{9D8B030D-6E8A-4147-A177-3AD203B41FA5}">
                      <a16:colId xmlns:a16="http://schemas.microsoft.com/office/drawing/2014/main" val="99149363"/>
                    </a:ext>
                  </a:extLst>
                </a:gridCol>
                <a:gridCol w="2240583">
                  <a:extLst>
                    <a:ext uri="{9D8B030D-6E8A-4147-A177-3AD203B41FA5}">
                      <a16:colId xmlns:a16="http://schemas.microsoft.com/office/drawing/2014/main" val="4217062189"/>
                    </a:ext>
                  </a:extLst>
                </a:gridCol>
                <a:gridCol w="1622908">
                  <a:extLst>
                    <a:ext uri="{9D8B030D-6E8A-4147-A177-3AD203B41FA5}">
                      <a16:colId xmlns:a16="http://schemas.microsoft.com/office/drawing/2014/main" val="2678282347"/>
                    </a:ext>
                  </a:extLst>
                </a:gridCol>
              </a:tblGrid>
              <a:tr h="4529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DKMS audit logging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9-Dec-25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Q3 FY26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808151"/>
                  </a:ext>
                </a:extLst>
              </a:tr>
              <a:tr h="4529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DKMS Backup and Restore - customer facing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9-Dec-25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Q3 FY26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432459"/>
                  </a:ext>
                </a:extLst>
              </a:tr>
              <a:tr h="4529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DKMS Butterfly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27-Feb-26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Q4 FY26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767046"/>
                  </a:ext>
                </a:extLst>
              </a:tr>
              <a:tr h="4529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DKMS OpenSSL support for Telesis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Q4 FY26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4988489"/>
                  </a:ext>
                </a:extLst>
              </a:tr>
              <a:tr h="45294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DKMS in EU Sovereign, ONSR regions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Q4 FY26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136536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A0A8BE2-42D1-0CC4-B6EA-533F3B6D423A}"/>
              </a:ext>
            </a:extLst>
          </p:cNvPr>
          <p:cNvSpPr txBox="1"/>
          <p:nvPr/>
        </p:nvSpPr>
        <p:spPr>
          <a:xfrm>
            <a:off x="754912" y="935665"/>
            <a:ext cx="88675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DKMS Features</a:t>
            </a:r>
          </a:p>
        </p:txBody>
      </p:sp>
    </p:spTree>
    <p:extLst>
      <p:ext uri="{BB962C8B-B14F-4D97-AF65-F5344CB8AC3E}">
        <p14:creationId xmlns:p14="http://schemas.microsoft.com/office/powerpoint/2010/main" val="1044417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FE0BE-7D74-0DD3-6122-D0847347B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C1A12B-0443-F573-3ABC-260A66581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635871"/>
              </p:ext>
            </p:extLst>
          </p:nvPr>
        </p:nvGraphicFramePr>
        <p:xfrm>
          <a:off x="2793999" y="2563019"/>
          <a:ext cx="6902893" cy="2838450"/>
        </p:xfrm>
        <a:graphic>
          <a:graphicData uri="http://schemas.openxmlformats.org/drawingml/2006/table">
            <a:tbl>
              <a:tblPr/>
              <a:tblGrid>
                <a:gridCol w="4692485">
                  <a:extLst>
                    <a:ext uri="{9D8B030D-6E8A-4147-A177-3AD203B41FA5}">
                      <a16:colId xmlns:a16="http://schemas.microsoft.com/office/drawing/2014/main" val="84434957"/>
                    </a:ext>
                  </a:extLst>
                </a:gridCol>
                <a:gridCol w="1083358">
                  <a:extLst>
                    <a:ext uri="{9D8B030D-6E8A-4147-A177-3AD203B41FA5}">
                      <a16:colId xmlns:a16="http://schemas.microsoft.com/office/drawing/2014/main" val="3492848173"/>
                    </a:ext>
                  </a:extLst>
                </a:gridCol>
                <a:gridCol w="1127050">
                  <a:extLst>
                    <a:ext uri="{9D8B030D-6E8A-4147-A177-3AD203B41FA5}">
                      <a16:colId xmlns:a16="http://schemas.microsoft.com/office/drawing/2014/main" val="2368136385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EKMS Butterfly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27-Feb-26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Q3 FY26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036210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EKMS enhancement to support- PE,  IDCS metadata update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30-Jan-26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Q3 FY26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618895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Support asymmetric keys (sign and verify API)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Backlog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9836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5632D53-A949-EC15-D85E-B58B3FDBF7BC}"/>
              </a:ext>
            </a:extLst>
          </p:cNvPr>
          <p:cNvSpPr txBox="1"/>
          <p:nvPr/>
        </p:nvSpPr>
        <p:spPr>
          <a:xfrm>
            <a:off x="754912" y="935665"/>
            <a:ext cx="88675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EKMS Features</a:t>
            </a:r>
          </a:p>
        </p:txBody>
      </p:sp>
    </p:spTree>
    <p:extLst>
      <p:ext uri="{BB962C8B-B14F-4D97-AF65-F5344CB8AC3E}">
        <p14:creationId xmlns:p14="http://schemas.microsoft.com/office/powerpoint/2010/main" val="3191343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B761F-1855-C7A4-F6D9-B0BC4807C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0406EB3-C819-F632-B90F-C2DD213E1B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865086"/>
              </p:ext>
            </p:extLst>
          </p:nvPr>
        </p:nvGraphicFramePr>
        <p:xfrm>
          <a:off x="1989150" y="1360681"/>
          <a:ext cx="8260636" cy="5149208"/>
        </p:xfrm>
        <a:graphic>
          <a:graphicData uri="http://schemas.openxmlformats.org/drawingml/2006/table">
            <a:tbl>
              <a:tblPr/>
              <a:tblGrid>
                <a:gridCol w="5092134">
                  <a:extLst>
                    <a:ext uri="{9D8B030D-6E8A-4147-A177-3AD203B41FA5}">
                      <a16:colId xmlns:a16="http://schemas.microsoft.com/office/drawing/2014/main" val="3369926245"/>
                    </a:ext>
                  </a:extLst>
                </a:gridCol>
                <a:gridCol w="1678030">
                  <a:extLst>
                    <a:ext uri="{9D8B030D-6E8A-4147-A177-3AD203B41FA5}">
                      <a16:colId xmlns:a16="http://schemas.microsoft.com/office/drawing/2014/main" val="1446718702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1642109055"/>
                    </a:ext>
                  </a:extLst>
                </a:gridCol>
              </a:tblGrid>
              <a:tr h="643651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Scale KMS CP for FA/GBU and DB - WAL Split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27-Feb-26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Q3 FY26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99904"/>
                  </a:ext>
                </a:extLst>
              </a:tr>
              <a:tr h="643651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FIPS 140-3 level 3 support 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31-Oct-25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Q2 FY26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992755"/>
                  </a:ext>
                </a:extLst>
              </a:tr>
              <a:tr h="643651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Automatic Key Rotation for VV keys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29-May-26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Q4 FY26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601997"/>
                  </a:ext>
                </a:extLst>
              </a:tr>
              <a:tr h="643651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KMS DP - Scale improvement - Uber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30-Oct-25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Q2 FY26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952675"/>
                  </a:ext>
                </a:extLst>
              </a:tr>
              <a:tr h="643651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GA: Cross Region Replication for Virtual Vault non OC1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31-Sept-26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Q2 FY27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116768"/>
                  </a:ext>
                </a:extLst>
              </a:tr>
              <a:tr h="643651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KMS event notification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29-Sept-25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Q2 FY26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623898"/>
                  </a:ext>
                </a:extLst>
              </a:tr>
              <a:tr h="643651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 Butterfly + OCI on OCI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11-Nov-25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Q3 FY26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864555"/>
                  </a:ext>
                </a:extLst>
              </a:tr>
              <a:tr h="643651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VV backup and recovery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29-May-26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Q4 FY26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21272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24580E0-AC19-B7F3-1F69-85A4DBBB4D73}"/>
              </a:ext>
            </a:extLst>
          </p:cNvPr>
          <p:cNvSpPr txBox="1"/>
          <p:nvPr/>
        </p:nvSpPr>
        <p:spPr>
          <a:xfrm>
            <a:off x="722339" y="648586"/>
            <a:ext cx="88675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KMS Features</a:t>
            </a:r>
          </a:p>
        </p:txBody>
      </p:sp>
    </p:spTree>
    <p:extLst>
      <p:ext uri="{BB962C8B-B14F-4D97-AF65-F5344CB8AC3E}">
        <p14:creationId xmlns:p14="http://schemas.microsoft.com/office/powerpoint/2010/main" val="2132525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FD6EB-236D-823A-70DE-6C77DDBEA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FE3D22-8064-C21A-25B6-BB5B8510AE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971780"/>
              </p:ext>
            </p:extLst>
          </p:nvPr>
        </p:nvGraphicFramePr>
        <p:xfrm>
          <a:off x="2045776" y="1871330"/>
          <a:ext cx="7352224" cy="1962564"/>
        </p:xfrm>
        <a:graphic>
          <a:graphicData uri="http://schemas.openxmlformats.org/drawingml/2006/table">
            <a:tbl>
              <a:tblPr/>
              <a:tblGrid>
                <a:gridCol w="4854754">
                  <a:extLst>
                    <a:ext uri="{9D8B030D-6E8A-4147-A177-3AD203B41FA5}">
                      <a16:colId xmlns:a16="http://schemas.microsoft.com/office/drawing/2014/main" val="3369926245"/>
                    </a:ext>
                  </a:extLst>
                </a:gridCol>
                <a:gridCol w="1446028">
                  <a:extLst>
                    <a:ext uri="{9D8B030D-6E8A-4147-A177-3AD203B41FA5}">
                      <a16:colId xmlns:a16="http://schemas.microsoft.com/office/drawing/2014/main" val="1446718702"/>
                    </a:ext>
                  </a:extLst>
                </a:gridCol>
                <a:gridCol w="1051442">
                  <a:extLst>
                    <a:ext uri="{9D8B030D-6E8A-4147-A177-3AD203B41FA5}">
                      <a16:colId xmlns:a16="http://schemas.microsoft.com/office/drawing/2014/main" val="1642109055"/>
                    </a:ext>
                  </a:extLst>
                </a:gridCol>
              </a:tblGrid>
              <a:tr h="675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SiV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Cross region replication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Jul 30 20205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Q1 FY26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699904"/>
                  </a:ext>
                </a:extLst>
              </a:tr>
              <a:tr h="643651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Re-encrypt DEKs after KMS Key rotation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Oct 15  20205</a:t>
                      </a:r>
                    </a:p>
                    <a:p>
                      <a:pPr algn="l" fontAlgn="b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Q1 FY26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601997"/>
                  </a:ext>
                </a:extLst>
              </a:tr>
              <a:tr h="643651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Separate UI options for KMS and Secrets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Sep 30 2025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Q2 FY26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95267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D8D2D05-3820-6E7C-77AD-47DA036D855C}"/>
              </a:ext>
            </a:extLst>
          </p:cNvPr>
          <p:cNvSpPr txBox="1"/>
          <p:nvPr/>
        </p:nvSpPr>
        <p:spPr>
          <a:xfrm>
            <a:off x="754912" y="935665"/>
            <a:ext cx="88675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Secrets Features</a:t>
            </a:r>
          </a:p>
        </p:txBody>
      </p:sp>
    </p:spTree>
    <p:extLst>
      <p:ext uri="{BB962C8B-B14F-4D97-AF65-F5344CB8AC3E}">
        <p14:creationId xmlns:p14="http://schemas.microsoft.com/office/powerpoint/2010/main" val="3435045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196</Words>
  <Application>Microsoft Macintosh PowerPoint</Application>
  <PresentationFormat>Widescreen</PresentationFormat>
  <Paragraphs>65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KMS and Secrets Customer Facing Feature Roadmap- FY26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Pathak</dc:creator>
  <cp:lastModifiedBy>Suyog Pathak</cp:lastModifiedBy>
  <cp:revision>8</cp:revision>
  <dcterms:created xsi:type="dcterms:W3CDTF">2025-07-07T13:31:55Z</dcterms:created>
  <dcterms:modified xsi:type="dcterms:W3CDTF">2025-09-05T14:35:10Z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4de43ec-192a-49eb-8e54-baeb8c71bbbe_Enabled">
    <vt:lpwstr>true</vt:lpwstr>
  </property>
  <property fmtid="{D5CDD505-2E9C-101B-9397-08002B2CF9AE}" pid="3" name="MSIP_Label_a4de43ec-192a-49eb-8e54-baeb8c71bbbe_SetDate">
    <vt:lpwstr>2025-07-07T15:46:06Z</vt:lpwstr>
  </property>
  <property fmtid="{D5CDD505-2E9C-101B-9397-08002B2CF9AE}" pid="4" name="MSIP_Label_a4de43ec-192a-49eb-8e54-baeb8c71bbbe_Method">
    <vt:lpwstr>Standard</vt:lpwstr>
  </property>
  <property fmtid="{D5CDD505-2E9C-101B-9397-08002B2CF9AE}" pid="5" name="MSIP_Label_a4de43ec-192a-49eb-8e54-baeb8c71bbbe_Name">
    <vt:lpwstr>Confidential – Oracle Internal</vt:lpwstr>
  </property>
  <property fmtid="{D5CDD505-2E9C-101B-9397-08002B2CF9AE}" pid="6" name="MSIP_Label_a4de43ec-192a-49eb-8e54-baeb8c71bbbe_SiteId">
    <vt:lpwstr>4e2c6054-71cb-48f1-bd6c-3a9705aca71b</vt:lpwstr>
  </property>
  <property fmtid="{D5CDD505-2E9C-101B-9397-08002B2CF9AE}" pid="7" name="MSIP_Label_a4de43ec-192a-49eb-8e54-baeb8c71bbbe_ActionId">
    <vt:lpwstr>20c22841-30e1-45f8-a031-e1c991adec6d</vt:lpwstr>
  </property>
  <property fmtid="{D5CDD505-2E9C-101B-9397-08002B2CF9AE}" pid="8" name="MSIP_Label_a4de43ec-192a-49eb-8e54-baeb8c71bbbe_ContentBits">
    <vt:lpwstr>2</vt:lpwstr>
  </property>
  <property fmtid="{D5CDD505-2E9C-101B-9397-08002B2CF9AE}" pid="9" name="MSIP_Label_a4de43ec-192a-49eb-8e54-baeb8c71bbbe_Tag">
    <vt:lpwstr>50, 3, 0, 1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Confidential – Oracle Internal</vt:lpwstr>
  </property>
</Properties>
</file>