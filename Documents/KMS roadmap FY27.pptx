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2" r:id="rId4"/>
    <p:sldId id="266" r:id="rId5"/>
    <p:sldId id="267" r:id="rId6"/>
    <p:sldId id="263" r:id="rId7"/>
    <p:sldId id="268" r:id="rId8"/>
    <p:sldId id="265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08"/>
  </p:normalViewPr>
  <p:slideViewPr>
    <p:cSldViewPr snapToGrid="0">
      <p:cViewPr varScale="1">
        <p:scale>
          <a:sx n="164" d="100"/>
          <a:sy n="164" d="100"/>
        </p:scale>
        <p:origin x="3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DAE2E-CC52-EB4B-8C08-544E30EC06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19B98-CB26-074D-A39E-F8B3BEBD1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78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KMS Roadmap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19B98-CB26-074D-A39E-F8B3BEBD17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77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Post-Quantum Cryptography (PQC)</a:t>
            </a:r>
            <a:br>
              <a:rPr lang="en-US" dirty="0"/>
            </a:br>
            <a:r>
              <a:rPr lang="en-US" dirty="0"/>
              <a:t>Enable NIST-approved PQC algorithms for KMS keys (HSM-backed and software-backed) to support crypto-agility and long-term data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19B98-CB26-074D-A39E-F8B3BEBD17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05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19B98-CB26-074D-A39E-F8B3BEBD17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2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19B98-CB26-074D-A39E-F8B3BEBD17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66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19B98-CB26-074D-A39E-F8B3BEBD17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71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19B98-CB26-074D-A39E-F8B3BEBD17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3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B16D-31A2-8604-BE53-7148CE717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E7071-BDD5-E94E-69D1-CDE0622E6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22076-7F5B-1EE9-C543-AAF8BE8C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AC4C8-3527-1836-031C-CFDF7797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9E69F-B78F-8253-13C6-E19B17DF4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0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AE8B-CC39-25D1-CAAC-C5FCC150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F8C1E-7443-F52D-51F1-9E25E1307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BA3DF-D09E-6F9C-8A24-EBAAF209C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E590-AD17-4135-F0B9-BF5F5D934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4C88A-EAD1-A79F-397E-E40A3C5E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09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6CCE-4ED0-7021-DF57-973B90D0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6BB99-DFE8-2136-4976-47843063E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7218C-85D4-1F1A-2712-747A7769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ED500-1C32-3E6D-3ACC-806574B05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CA0A-11E4-7DE1-67A7-8ABAA4FB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7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0675C-4535-61E0-BC9C-33FC56CB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A9AB9-E35F-0CB6-F57F-854084359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01897-BED3-20EF-2FB9-D33915DEE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1DBC7-D38B-58B6-6C82-24B899C6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B4294-C93E-AF15-4274-5BA419E9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4423B-5FFC-65B6-71E4-9CA43C08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2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00FF-A276-1BD9-109F-ED0C476C2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3881D-117B-5088-5404-BE32B95D6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2BB2C-6A46-1602-4D3C-1AB181CAE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FA535E-CDD9-3594-CAB0-6F1408136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748E36-D112-7BF9-B037-884B3E86D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B5336A-B571-A617-A704-2A314C6A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8353B-1E71-92A8-54AA-387CF6B5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CADEC4-4800-CD6C-38BF-24483FF0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0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89BBF-CA5D-681D-2454-9FE7441F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30F42-039C-4083-856A-CFE90E4C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EC042-2B52-39CC-CCDB-EA920094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388D2-2803-4E68-C99E-36BEDD65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0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A5A38-8985-405F-AE94-91D6519C0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DEE3A-8D86-DBFC-EBA5-EF3760B4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BE790-2A1F-EC55-FA92-E0E1295C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17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CD0F-8AD8-E36A-EA18-C6F99A3C6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B2928-44D5-7A10-331A-6BE547D1B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229B9-E265-323A-E5E7-81CAFD0CD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F5DB2-FF69-2C6A-0AC5-14635A60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2A5-30A6-97D8-4AE5-A522C435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2E7CC-6885-6E2F-0FCD-2B2535F1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1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A056-66F2-7F2A-BAF8-756FF90A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C11F0-750B-CD1F-2AD2-1FA3A19D6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487B4-5CE8-C512-41FC-AEF96C386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B9423-813F-4B60-6DB7-D0452546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084D9-6C6A-9B8F-4AB9-D7F6DEF3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B7321-E45C-7EFE-9CB4-E00C0EC6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6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5B38-02C5-1F1F-D9F5-2014890A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1D46F-8FD4-156C-450D-5AD169BBE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358E-B522-9D8F-8C11-9AAD776A4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538A4-2DD9-198C-5359-160EB783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7A01A-9D18-4379-090E-491E48CF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9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61E3C-5DDB-0F44-AC69-C75F097867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63DEA-6DE4-C06D-DE21-15AF1021A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7FB25-7533-DE83-A113-A1857431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417D-E29F-86D6-C1F6-95AF4E6C6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772DB-FE92-4BED-773E-8283539D9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1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48C01-60A7-2AD6-17C5-5265096E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A3FB7-3B61-0321-D978-F3278EAD9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83125-F89A-6B44-E7D3-25C4CEC22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379DB-54BB-8349-AED4-74B902223EF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64FBE-3C4B-A3A4-842C-032E690F0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93733-F120-FA73-68EA-08DC83091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BFB7D-7683-611A-79B0-31D9948F231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430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– Oracle Internal</a:t>
            </a:r>
          </a:p>
        </p:txBody>
      </p:sp>
    </p:spTree>
    <p:extLst>
      <p:ext uri="{BB962C8B-B14F-4D97-AF65-F5344CB8AC3E}">
        <p14:creationId xmlns:p14="http://schemas.microsoft.com/office/powerpoint/2010/main" val="181513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D6ED-AF7A-E917-B584-A4182BC401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KMS and Secrets Customer Facing Feature Roadmap- FY27</a:t>
            </a:r>
          </a:p>
        </p:txBody>
      </p:sp>
    </p:spTree>
    <p:extLst>
      <p:ext uri="{BB962C8B-B14F-4D97-AF65-F5344CB8AC3E}">
        <p14:creationId xmlns:p14="http://schemas.microsoft.com/office/powerpoint/2010/main" val="216618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ECF4-8666-76E3-7C53-7E9A81B0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FY27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C6F4F-ADD9-681A-AA07-99180961C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OCI KMS is evolving into a quantum-ready, economically scalable cryptographic platform that enables OCI growth across enterprise, government, and financial services customers.</a:t>
            </a:r>
            <a:br>
              <a:rPr lang="en-US" dirty="0"/>
            </a:br>
            <a:r>
              <a:rPr lang="en-US" dirty="0"/>
              <a:t>The FY27 roadmap focuses on feature parity across KMS offerings, predictable customer experience, and a clear path to support emerging regulatory and cryptographic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536763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5E776-903C-3FBE-01CD-4C3963CB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and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76712-6204-627B-F8A5-399E93988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FY27 roadmap is organized around five pillars that balance innovation, large customer demands, platform modernization, service enablement, and long-term sustainability</a:t>
            </a:r>
          </a:p>
          <a:p>
            <a:r>
              <a:rPr lang="en-US" b="1" dirty="0"/>
              <a:t>Pillar 1: Strategic Big Rocks</a:t>
            </a:r>
          </a:p>
          <a:p>
            <a:pPr marL="457200" lvl="1" indent="0">
              <a:buNone/>
            </a:pPr>
            <a:r>
              <a:rPr lang="en-US" dirty="0"/>
              <a:t>This pillar addresses industry-level shifts that directly influence customer security roadmaps.</a:t>
            </a:r>
          </a:p>
          <a:p>
            <a:pPr lvl="1"/>
            <a:r>
              <a:rPr lang="en-US" b="1" dirty="0"/>
              <a:t>Post-Quantum Cryptography (PQC)</a:t>
            </a:r>
            <a:br>
              <a:rPr lang="en-US" dirty="0"/>
            </a:br>
            <a:r>
              <a:rPr lang="en-US" dirty="0"/>
              <a:t>Enable NIST-approved PQC algorithms for KMS keys (HSM-backed and software-backed) to support crypto-agility and long-term data protection.</a:t>
            </a:r>
          </a:p>
          <a:p>
            <a:pPr lvl="1"/>
            <a:r>
              <a:rPr lang="en-US" b="1" dirty="0"/>
              <a:t>Managed Payment HSM</a:t>
            </a:r>
            <a:br>
              <a:rPr lang="en-US" dirty="0"/>
            </a:br>
            <a:r>
              <a:rPr lang="en-US" dirty="0"/>
              <a:t>Introduce Payment HSM support leveraging Marvell LS2 hardware and </a:t>
            </a:r>
            <a:r>
              <a:rPr lang="en-US" dirty="0" err="1"/>
              <a:t>Utimaco</a:t>
            </a:r>
            <a:r>
              <a:rPr lang="en-US" dirty="0"/>
              <a:t> APM to unlock regulated financial workloads and payment processing use cases.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984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9FD2-D31F-EA74-826D-32D1049B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</a:t>
            </a:r>
            <a:r>
              <a:rPr lang="en-US" dirty="0" err="1"/>
              <a:t>cntd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C8250-5796-FD02-97A8-D771552F6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Pillar 2- Large Customer Requirements</a:t>
            </a:r>
          </a:p>
          <a:p>
            <a:pPr marL="457200" lvl="1" indent="0">
              <a:buNone/>
            </a:pPr>
            <a:r>
              <a:rPr lang="en-US" dirty="0"/>
              <a:t>These items directly unblock near-term customer adoption and renewals.</a:t>
            </a:r>
          </a:p>
          <a:p>
            <a:pPr lvl="1"/>
            <a:r>
              <a:rPr lang="en-US" dirty="0"/>
              <a:t>DKMS backup and restore</a:t>
            </a:r>
          </a:p>
          <a:p>
            <a:pPr lvl="1"/>
            <a:r>
              <a:rPr lang="en-US" dirty="0"/>
              <a:t>DKMS activity logging</a:t>
            </a:r>
          </a:p>
          <a:p>
            <a:pPr lvl="1"/>
            <a:r>
              <a:rPr lang="en-US" dirty="0"/>
              <a:t>Virtual Vault backup and recovery</a:t>
            </a:r>
          </a:p>
          <a:p>
            <a:pPr lvl="1"/>
            <a:r>
              <a:rPr lang="en-US" dirty="0"/>
              <a:t>Private Service Access (PSA) for KMS</a:t>
            </a:r>
          </a:p>
          <a:p>
            <a:pPr lvl="1"/>
            <a:r>
              <a:rPr lang="en-US" dirty="0"/>
              <a:t>EKMS enablement for Butterfly regions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692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9278-11F5-0BDA-3229-40925B29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</a:t>
            </a:r>
            <a:r>
              <a:rPr lang="en-US" dirty="0" err="1"/>
              <a:t>cntd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A9C35-1F90-7389-814A-92F00CBF3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Pillar 3: Platform Enhancements</a:t>
            </a:r>
          </a:p>
          <a:p>
            <a:pPr marL="457200" lvl="1" indent="0">
              <a:buNone/>
            </a:pPr>
            <a:r>
              <a:rPr lang="en-US" dirty="0"/>
              <a:t>This pillar modernizes the cryptographic substrate to improve extensibility and migration support.</a:t>
            </a:r>
          </a:p>
          <a:p>
            <a:pPr lvl="1"/>
            <a:r>
              <a:rPr lang="en-US" dirty="0"/>
              <a:t>New HSM platform layer decoupling HSM partitions from key management applications</a:t>
            </a:r>
          </a:p>
          <a:p>
            <a:pPr lvl="1"/>
            <a:r>
              <a:rPr lang="en-US" dirty="0"/>
              <a:t>Support for HMAC keys and SigV3 and SigV4 authentication to ease AWS-to-OCI migrations, including DynamoDB-compatible workloads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770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1C77E-8597-20B8-5CDE-A510AF5F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</a:t>
            </a:r>
            <a:r>
              <a:rPr lang="en-US" dirty="0" err="1"/>
              <a:t>cntd</a:t>
            </a:r>
            <a:r>
              <a:rPr lang="en-US" dirty="0"/>
              <a:t>…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CEC8C-03BD-AAAD-F734-34146DF95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Pillar 4: Enabling Other OCI Services</a:t>
            </a:r>
          </a:p>
          <a:p>
            <a:pPr lvl="1"/>
            <a:r>
              <a:rPr lang="en-US" dirty="0"/>
              <a:t>KMS acts as a foundational dependency for multiple OCI services.</a:t>
            </a:r>
          </a:p>
          <a:p>
            <a:pPr lvl="1"/>
            <a:r>
              <a:rPr lang="en-US" dirty="0"/>
              <a:t>Migration of SSv2 Root of Trust and PKI Intermediate CAs to Virtual Private Vaults</a:t>
            </a:r>
          </a:p>
          <a:p>
            <a:pPr lvl="1"/>
            <a:r>
              <a:rPr lang="en-US" dirty="0"/>
              <a:t>ZPR service attachment support for EKMS</a:t>
            </a:r>
          </a:p>
          <a:p>
            <a:pPr lvl="1"/>
            <a:r>
              <a:rPr lang="en-US" dirty="0"/>
              <a:t>Butterfly region enablement for both KMS and DKMS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73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4BB4-02E2-ED31-CE3D-09644208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</a:t>
            </a:r>
            <a:r>
              <a:rPr lang="en-US" dirty="0" err="1"/>
              <a:t>cntd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31129-13B7-20BB-5B43-8B860195C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Pillar 5: Service Sustainability and Operational Excellence</a:t>
            </a:r>
          </a:p>
          <a:p>
            <a:pPr marL="457200" lvl="1" indent="0">
              <a:buNone/>
            </a:pPr>
            <a:r>
              <a:rPr lang="en-US" dirty="0"/>
              <a:t>This pillar ensures KMS scales securely and economically.</a:t>
            </a:r>
          </a:p>
          <a:p>
            <a:pPr lvl="1"/>
            <a:r>
              <a:rPr lang="en-US" dirty="0"/>
              <a:t>Focus on KTLO, compliance, and operational reliability</a:t>
            </a:r>
          </a:p>
          <a:p>
            <a:pPr lvl="1"/>
            <a:r>
              <a:rPr lang="en-US" dirty="0"/>
              <a:t>Improved durability and recoverability for Vault and DKMS snapshots</a:t>
            </a:r>
          </a:p>
          <a:p>
            <a:pPr lvl="1"/>
            <a:r>
              <a:rPr lang="en-US" dirty="0"/>
              <a:t>Qualification and rollout of new HSM SKUs to maintain compliance and business continuity</a:t>
            </a:r>
          </a:p>
          <a:p>
            <a:pPr lvl="1"/>
            <a:r>
              <a:rPr lang="en-US" dirty="0"/>
              <a:t>AI-assisted observability and operational tooling</a:t>
            </a:r>
          </a:p>
          <a:p>
            <a:pPr lvl="1"/>
            <a:r>
              <a:rPr lang="en-US" dirty="0"/>
              <a:t>Targeted reduction of KMS COGS by up to 50 percent while preserving security guarantees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31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4DEB-2517-8901-DDF9-4D5EFE9C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 from field teams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06C19-6F23-A32B-5837-CF739F374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Educate customers on OCI PQC strategy</a:t>
            </a:r>
          </a:p>
          <a:p>
            <a:r>
              <a:rPr lang="en-US" dirty="0"/>
              <a:t>Gather customer interest, use-cases, and timeline.</a:t>
            </a:r>
          </a:p>
          <a:p>
            <a:r>
              <a:rPr lang="en-US" dirty="0"/>
              <a:t>Educate customers on OCI payment HSM </a:t>
            </a:r>
            <a:r>
              <a:rPr lang="en-US" dirty="0" err="1"/>
              <a:t>stategy</a:t>
            </a:r>
            <a:r>
              <a:rPr lang="en-US" dirty="0"/>
              <a:t>.</a:t>
            </a:r>
          </a:p>
          <a:p>
            <a:r>
              <a:rPr lang="en-US" dirty="0"/>
              <a:t>Gather customer interest, use-cases, and timeline requirements for payment HSM</a:t>
            </a:r>
          </a:p>
          <a:p>
            <a:r>
              <a:rPr lang="en-US" dirty="0"/>
              <a:t>Share lost opportunities in past 1 year for these two features.</a:t>
            </a:r>
          </a:p>
        </p:txBody>
      </p:sp>
    </p:spTree>
    <p:extLst>
      <p:ext uri="{BB962C8B-B14F-4D97-AF65-F5344CB8AC3E}">
        <p14:creationId xmlns:p14="http://schemas.microsoft.com/office/powerpoint/2010/main" val="1307906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878D-74DA-C553-157F-F2EB91FD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FY26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B94B5-783A-1306-138B-8680D7648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Marvell LS2 validation</a:t>
            </a:r>
          </a:p>
          <a:p>
            <a:r>
              <a:rPr lang="en-US" dirty="0"/>
              <a:t>PQC testing</a:t>
            </a:r>
          </a:p>
          <a:p>
            <a:r>
              <a:rPr lang="en-US" dirty="0"/>
              <a:t>FIPS 140-3 level 3 </a:t>
            </a:r>
          </a:p>
          <a:p>
            <a:r>
              <a:rPr lang="en-US" dirty="0"/>
              <a:t>EKMS Update API</a:t>
            </a:r>
          </a:p>
          <a:p>
            <a:pPr lvl="1"/>
            <a:r>
              <a:rPr lang="en-US" dirty="0"/>
              <a:t>Self service to update IDCS credentials and 3-p HSM certificate.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208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de43ec-192a-49eb-8e54-baeb8c71bbbe}" enabled="1" method="Standard" siteId="{4e2c6054-71cb-48f1-bd6c-3a9705aca71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485</Words>
  <Application>Microsoft Macintosh PowerPoint</Application>
  <PresentationFormat>Widescreen</PresentationFormat>
  <Paragraphs>57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KMS and Secrets Customer Facing Feature Roadmap- FY27</vt:lpstr>
      <vt:lpstr>FY27 mission</vt:lpstr>
      <vt:lpstr>Strategy and Roadmap</vt:lpstr>
      <vt:lpstr>Roadmap cntd…</vt:lpstr>
      <vt:lpstr>Roadmap cntd…</vt:lpstr>
      <vt:lpstr>Roadmap cntd… </vt:lpstr>
      <vt:lpstr>Roadmap cntd…</vt:lpstr>
      <vt:lpstr>Ask from field teams </vt:lpstr>
      <vt:lpstr>Remaining FY26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Pathak</dc:creator>
  <cp:lastModifiedBy>Suyog Pathak</cp:lastModifiedBy>
  <cp:revision>10</cp:revision>
  <dcterms:created xsi:type="dcterms:W3CDTF">2025-07-07T13:31:55Z</dcterms:created>
  <dcterms:modified xsi:type="dcterms:W3CDTF">2026-02-06T15:20:02Z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de43ec-192a-49eb-8e54-baeb8c71bbbe_Enabled">
    <vt:lpwstr>true</vt:lpwstr>
  </property>
  <property fmtid="{D5CDD505-2E9C-101B-9397-08002B2CF9AE}" pid="3" name="MSIP_Label_a4de43ec-192a-49eb-8e54-baeb8c71bbbe_SetDate">
    <vt:lpwstr>2025-07-07T15:46:06Z</vt:lpwstr>
  </property>
  <property fmtid="{D5CDD505-2E9C-101B-9397-08002B2CF9AE}" pid="4" name="MSIP_Label_a4de43ec-192a-49eb-8e54-baeb8c71bbbe_Method">
    <vt:lpwstr>Standard</vt:lpwstr>
  </property>
  <property fmtid="{D5CDD505-2E9C-101B-9397-08002B2CF9AE}" pid="5" name="MSIP_Label_a4de43ec-192a-49eb-8e54-baeb8c71bbbe_Name">
    <vt:lpwstr>Confidential – Oracle Internal</vt:lpwstr>
  </property>
  <property fmtid="{D5CDD505-2E9C-101B-9397-08002B2CF9AE}" pid="6" name="MSIP_Label_a4de43ec-192a-49eb-8e54-baeb8c71bbbe_SiteId">
    <vt:lpwstr>4e2c6054-71cb-48f1-bd6c-3a9705aca71b</vt:lpwstr>
  </property>
  <property fmtid="{D5CDD505-2E9C-101B-9397-08002B2CF9AE}" pid="7" name="MSIP_Label_a4de43ec-192a-49eb-8e54-baeb8c71bbbe_ActionId">
    <vt:lpwstr>20c22841-30e1-45f8-a031-e1c991adec6d</vt:lpwstr>
  </property>
  <property fmtid="{D5CDD505-2E9C-101B-9397-08002B2CF9AE}" pid="8" name="MSIP_Label_a4de43ec-192a-49eb-8e54-baeb8c71bbbe_ContentBits">
    <vt:lpwstr>2</vt:lpwstr>
  </property>
  <property fmtid="{D5CDD505-2E9C-101B-9397-08002B2CF9AE}" pid="9" name="MSIP_Label_a4de43ec-192a-49eb-8e54-baeb8c71bbbe_Tag">
    <vt:lpwstr>50, 3, 0, 1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– Oracle Internal</vt:lpwstr>
  </property>
</Properties>
</file>